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94" r:id="rId6"/>
    <p:sldId id="295" r:id="rId7"/>
    <p:sldId id="298" r:id="rId8"/>
    <p:sldId id="299" r:id="rId9"/>
    <p:sldId id="289" r:id="rId10"/>
    <p:sldId id="290" r:id="rId11"/>
    <p:sldId id="291" r:id="rId12"/>
    <p:sldId id="286" r:id="rId13"/>
    <p:sldId id="266" r:id="rId14"/>
    <p:sldId id="268" r:id="rId15"/>
    <p:sldId id="269" r:id="rId16"/>
    <p:sldId id="292" r:id="rId17"/>
    <p:sldId id="293" r:id="rId18"/>
    <p:sldId id="277" r:id="rId19"/>
    <p:sldId id="278" r:id="rId20"/>
    <p:sldId id="279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9231F-5FE0-4255-B4A2-82B1AD35D662}" v="7" dt="2026-03-26T17:14:49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85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00043106 Amelia Stronska" userId="26b13220-5c28-497f-8887-6e4027d3be59" providerId="ADAL" clId="{431F7DB1-8E1F-4FC3-8BE5-1CB4D3E05321}"/>
    <pc:docChg chg="undo custSel addSld delSld modSld sldOrd">
      <pc:chgData name="A00043106 Amelia Stronska" userId="26b13220-5c28-497f-8887-6e4027d3be59" providerId="ADAL" clId="{431F7DB1-8E1F-4FC3-8BE5-1CB4D3E05321}" dt="2026-03-26T18:02:25.578" v="1267" actId="14734"/>
      <pc:docMkLst>
        <pc:docMk/>
      </pc:docMkLst>
      <pc:sldChg chg="addSp modSp mod">
        <pc:chgData name="A00043106 Amelia Stronska" userId="26b13220-5c28-497f-8887-6e4027d3be59" providerId="ADAL" clId="{431F7DB1-8E1F-4FC3-8BE5-1CB4D3E05321}" dt="2026-03-26T16:47:30.968" v="727" actId="20577"/>
        <pc:sldMkLst>
          <pc:docMk/>
          <pc:sldMk cId="0" sldId="259"/>
        </pc:sldMkLst>
        <pc:spChg chg="add mod">
          <ac:chgData name="A00043106 Amelia Stronska" userId="26b13220-5c28-497f-8887-6e4027d3be59" providerId="ADAL" clId="{431F7DB1-8E1F-4FC3-8BE5-1CB4D3E05321}" dt="2026-03-26T16:47:10.211" v="719" actId="1076"/>
          <ac:spMkLst>
            <pc:docMk/>
            <pc:sldMk cId="0" sldId="259"/>
            <ac:spMk id="2" creationId="{57C9C7DA-DA5D-8C68-A10B-B3F9D79ED40D}"/>
          </ac:spMkLst>
        </pc:spChg>
        <pc:spChg chg="mod">
          <ac:chgData name="A00043106 Amelia Stronska" userId="26b13220-5c28-497f-8887-6e4027d3be59" providerId="ADAL" clId="{431F7DB1-8E1F-4FC3-8BE5-1CB4D3E05321}" dt="2026-03-26T16:47:30.968" v="727" actId="20577"/>
          <ac:spMkLst>
            <pc:docMk/>
            <pc:sldMk cId="0" sldId="259"/>
            <ac:spMk id="73" creationId="{00000000-0000-0000-0000-000000000000}"/>
          </ac:spMkLst>
        </pc:spChg>
      </pc:sldChg>
      <pc:sldChg chg="addSp delSp modSp add del mod">
        <pc:chgData name="A00043106 Amelia Stronska" userId="26b13220-5c28-497f-8887-6e4027d3be59" providerId="ADAL" clId="{431F7DB1-8E1F-4FC3-8BE5-1CB4D3E05321}" dt="2026-03-26T17:15:54.559" v="1266" actId="2696"/>
        <pc:sldMkLst>
          <pc:docMk/>
          <pc:sldMk cId="459019982" sldId="296"/>
        </pc:sldMkLst>
        <pc:spChg chg="del mod">
          <ac:chgData name="A00043106 Amelia Stronska" userId="26b13220-5c28-497f-8887-6e4027d3be59" providerId="ADAL" clId="{431F7DB1-8E1F-4FC3-8BE5-1CB4D3E05321}" dt="2026-03-26T17:08:23.251" v="934" actId="21"/>
          <ac:spMkLst>
            <pc:docMk/>
            <pc:sldMk cId="459019982" sldId="296"/>
            <ac:spMk id="2" creationId="{C164D391-0FC9-05A8-8239-579FD822DA90}"/>
          </ac:spMkLst>
        </pc:spChg>
        <pc:spChg chg="del mod">
          <ac:chgData name="A00043106 Amelia Stronska" userId="26b13220-5c28-497f-8887-6e4027d3be59" providerId="ADAL" clId="{431F7DB1-8E1F-4FC3-8BE5-1CB4D3E05321}" dt="2026-03-26T16:57:17.877" v="869" actId="21"/>
          <ac:spMkLst>
            <pc:docMk/>
            <pc:sldMk cId="459019982" sldId="296"/>
            <ac:spMk id="3" creationId="{FB34FE88-FFFB-2ED0-81AD-C2D2E770936D}"/>
          </ac:spMkLst>
        </pc:spChg>
        <pc:spChg chg="add del mod">
          <ac:chgData name="A00043106 Amelia Stronska" userId="26b13220-5c28-497f-8887-6e4027d3be59" providerId="ADAL" clId="{431F7DB1-8E1F-4FC3-8BE5-1CB4D3E05321}" dt="2026-03-26T17:09:02.588" v="944" actId="21"/>
          <ac:spMkLst>
            <pc:docMk/>
            <pc:sldMk cId="459019982" sldId="296"/>
            <ac:spMk id="6" creationId="{D13F10FE-B5D3-31B8-1DAA-AB4637CE1563}"/>
          </ac:spMkLst>
        </pc:spChg>
        <pc:graphicFrameChg chg="add mod modGraphic">
          <ac:chgData name="A00043106 Amelia Stronska" userId="26b13220-5c28-497f-8887-6e4027d3be59" providerId="ADAL" clId="{431F7DB1-8E1F-4FC3-8BE5-1CB4D3E05321}" dt="2026-03-26T17:08:55.885" v="943" actId="14100"/>
          <ac:graphicFrameMkLst>
            <pc:docMk/>
            <pc:sldMk cId="459019982" sldId="296"/>
            <ac:graphicFrameMk id="4" creationId="{2EBD0AA8-A597-3FA9-9B21-538A2F0462F9}"/>
          </ac:graphicFrameMkLst>
        </pc:graphicFrameChg>
      </pc:sldChg>
      <pc:sldChg chg="addSp delSp modSp add del mod">
        <pc:chgData name="A00043106 Amelia Stronska" userId="26b13220-5c28-497f-8887-6e4027d3be59" providerId="ADAL" clId="{431F7DB1-8E1F-4FC3-8BE5-1CB4D3E05321}" dt="2026-03-26T17:15:50.561" v="1265" actId="2696"/>
        <pc:sldMkLst>
          <pc:docMk/>
          <pc:sldMk cId="523827183" sldId="297"/>
        </pc:sldMkLst>
        <pc:graphicFrameChg chg="del modGraphic">
          <ac:chgData name="A00043106 Amelia Stronska" userId="26b13220-5c28-497f-8887-6e4027d3be59" providerId="ADAL" clId="{431F7DB1-8E1F-4FC3-8BE5-1CB4D3E05321}" dt="2026-03-26T16:59:17.081" v="873" actId="21"/>
          <ac:graphicFrameMkLst>
            <pc:docMk/>
            <pc:sldMk cId="523827183" sldId="297"/>
            <ac:graphicFrameMk id="4" creationId="{3D4AAE72-A472-E803-3B5E-A61D7A0D512A}"/>
          </ac:graphicFrameMkLst>
        </pc:graphicFrameChg>
        <pc:graphicFrameChg chg="add mod modGraphic">
          <ac:chgData name="A00043106 Amelia Stronska" userId="26b13220-5c28-497f-8887-6e4027d3be59" providerId="ADAL" clId="{431F7DB1-8E1F-4FC3-8BE5-1CB4D3E05321}" dt="2026-03-26T17:00:48.086" v="877" actId="2161"/>
          <ac:graphicFrameMkLst>
            <pc:docMk/>
            <pc:sldMk cId="523827183" sldId="297"/>
            <ac:graphicFrameMk id="5" creationId="{2CC30AC9-4CE7-1A57-08B8-6AB4A5CF99CA}"/>
          </ac:graphicFrameMkLst>
        </pc:graphicFrameChg>
      </pc:sldChg>
      <pc:sldChg chg="addSp modSp new mod ord">
        <pc:chgData name="A00043106 Amelia Stronska" userId="26b13220-5c28-497f-8887-6e4027d3be59" providerId="ADAL" clId="{431F7DB1-8E1F-4FC3-8BE5-1CB4D3E05321}" dt="2026-03-26T17:15:33.918" v="1264"/>
        <pc:sldMkLst>
          <pc:docMk/>
          <pc:sldMk cId="4143149553" sldId="298"/>
        </pc:sldMkLst>
        <pc:spChg chg="mod">
          <ac:chgData name="A00043106 Amelia Stronska" userId="26b13220-5c28-497f-8887-6e4027d3be59" providerId="ADAL" clId="{431F7DB1-8E1F-4FC3-8BE5-1CB4D3E05321}" dt="2026-03-26T17:12:43.087" v="1108" actId="5793"/>
          <ac:spMkLst>
            <pc:docMk/>
            <pc:sldMk cId="4143149553" sldId="298"/>
            <ac:spMk id="2" creationId="{8248CA43-D624-65A7-4FF3-1292FA2AEBC7}"/>
          </ac:spMkLst>
        </pc:spChg>
        <pc:graphicFrameChg chg="add mod modGraphic">
          <ac:chgData name="A00043106 Amelia Stronska" userId="26b13220-5c28-497f-8887-6e4027d3be59" providerId="ADAL" clId="{431F7DB1-8E1F-4FC3-8BE5-1CB4D3E05321}" dt="2026-03-26T17:13:37.358" v="1173" actId="255"/>
          <ac:graphicFrameMkLst>
            <pc:docMk/>
            <pc:sldMk cId="4143149553" sldId="298"/>
            <ac:graphicFrameMk id="4" creationId="{F9ADA535-35E7-053B-9BC5-F384FC040E3E}"/>
          </ac:graphicFrameMkLst>
        </pc:graphicFrameChg>
      </pc:sldChg>
      <pc:sldChg chg="modSp add mod ord">
        <pc:chgData name="A00043106 Amelia Stronska" userId="26b13220-5c28-497f-8887-6e4027d3be59" providerId="ADAL" clId="{431F7DB1-8E1F-4FC3-8BE5-1CB4D3E05321}" dt="2026-03-26T18:02:25.578" v="1267" actId="14734"/>
        <pc:sldMkLst>
          <pc:docMk/>
          <pc:sldMk cId="4132635650" sldId="299"/>
        </pc:sldMkLst>
        <pc:graphicFrameChg chg="mod modGraphic">
          <ac:chgData name="A00043106 Amelia Stronska" userId="26b13220-5c28-497f-8887-6e4027d3be59" providerId="ADAL" clId="{431F7DB1-8E1F-4FC3-8BE5-1CB4D3E05321}" dt="2026-03-26T18:02:25.578" v="1267" actId="14734"/>
          <ac:graphicFrameMkLst>
            <pc:docMk/>
            <pc:sldMk cId="4132635650" sldId="299"/>
            <ac:graphicFrameMk id="4" creationId="{F19D0D98-73BD-5524-3534-B676CFF7A488}"/>
          </ac:graphicFrameMkLst>
        </pc:graphicFrameChg>
      </pc:sldChg>
    </pc:docChg>
  </pc:docChgLst>
  <pc:docChgLst>
    <pc:chgData name="A00043106 Amelia Stronska" userId="S::a00043106@mytudublin.ie::26b13220-5c28-497f-8887-6e4027d3be59" providerId="AD" clId="Web-{58F97F1A-1652-FEDA-9BD7-74B6CC554117}"/>
    <pc:docChg chg="modSld">
      <pc:chgData name="A00043106 Amelia Stronska" userId="S::a00043106@mytudublin.ie::26b13220-5c28-497f-8887-6e4027d3be59" providerId="AD" clId="Web-{58F97F1A-1652-FEDA-9BD7-74B6CC554117}" dt="2026-03-25T12:17:05.106" v="68" actId="20577"/>
      <pc:docMkLst>
        <pc:docMk/>
      </pc:docMkLst>
      <pc:sldChg chg="modSp">
        <pc:chgData name="A00043106 Amelia Stronska" userId="S::a00043106@mytudublin.ie::26b13220-5c28-497f-8887-6e4027d3be59" providerId="AD" clId="Web-{58F97F1A-1652-FEDA-9BD7-74B6CC554117}" dt="2026-03-25T12:12:57.677" v="4" actId="20577"/>
        <pc:sldMkLst>
          <pc:docMk/>
          <pc:sldMk cId="0" sldId="256"/>
        </pc:sldMkLst>
        <pc:spChg chg="mod">
          <ac:chgData name="A00043106 Amelia Stronska" userId="S::a00043106@mytudublin.ie::26b13220-5c28-497f-8887-6e4027d3be59" providerId="AD" clId="Web-{58F97F1A-1652-FEDA-9BD7-74B6CC554117}" dt="2026-03-25T12:12:57.677" v="4" actId="20577"/>
          <ac:spMkLst>
            <pc:docMk/>
            <pc:sldMk cId="0" sldId="256"/>
            <ac:spMk id="54" creationId="{00000000-0000-0000-0000-000000000000}"/>
          </ac:spMkLst>
        </pc:spChg>
      </pc:sldChg>
      <pc:sldChg chg="modSp">
        <pc:chgData name="A00043106 Amelia Stronska" userId="S::a00043106@mytudublin.ie::26b13220-5c28-497f-8887-6e4027d3be59" providerId="AD" clId="Web-{58F97F1A-1652-FEDA-9BD7-74B6CC554117}" dt="2026-03-25T12:13:32.897" v="16" actId="20577"/>
        <pc:sldMkLst>
          <pc:docMk/>
          <pc:sldMk cId="0" sldId="257"/>
        </pc:sldMkLst>
        <pc:spChg chg="mod">
          <ac:chgData name="A00043106 Amelia Stronska" userId="S::a00043106@mytudublin.ie::26b13220-5c28-497f-8887-6e4027d3be59" providerId="AD" clId="Web-{58F97F1A-1652-FEDA-9BD7-74B6CC554117}" dt="2026-03-25T12:13:32.897" v="16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">
        <pc:chgData name="A00043106 Amelia Stronska" userId="S::a00043106@mytudublin.ie::26b13220-5c28-497f-8887-6e4027d3be59" providerId="AD" clId="Web-{58F97F1A-1652-FEDA-9BD7-74B6CC554117}" dt="2026-03-25T12:17:05.106" v="68" actId="20577"/>
        <pc:sldMkLst>
          <pc:docMk/>
          <pc:sldMk cId="0" sldId="259"/>
        </pc:sldMkLst>
        <pc:spChg chg="mod">
          <ac:chgData name="A00043106 Amelia Stronska" userId="S::a00043106@mytudublin.ie::26b13220-5c28-497f-8887-6e4027d3be59" providerId="AD" clId="Web-{58F97F1A-1652-FEDA-9BD7-74B6CC554117}" dt="2026-03-25T12:17:05.106" v="68" actId="20577"/>
          <ac:spMkLst>
            <pc:docMk/>
            <pc:sldMk cId="0" sldId="259"/>
            <ac:spMk id="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54b29f913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54b29f913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21384a0f4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21384a0f4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1384a0f4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1384a0f4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21A402D-7E33-6B29-2E44-FC0E51E3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1384a0f4f_0_12:notes">
            <a:extLst>
              <a:ext uri="{FF2B5EF4-FFF2-40B4-BE49-F238E27FC236}">
                <a16:creationId xmlns:a16="http://schemas.microsoft.com/office/drawing/2014/main" id="{955B8214-4F87-98BA-8EDA-4CBBB59E6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1384a0f4f_0_12:notes">
            <a:extLst>
              <a:ext uri="{FF2B5EF4-FFF2-40B4-BE49-F238E27FC236}">
                <a16:creationId xmlns:a16="http://schemas.microsoft.com/office/drawing/2014/main" id="{0B7DF2EB-3822-ECAF-8561-A72BECB75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2761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62C7BB93-3950-8460-9775-7327FCA7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1384a0f4f_0_12:notes">
            <a:extLst>
              <a:ext uri="{FF2B5EF4-FFF2-40B4-BE49-F238E27FC236}">
                <a16:creationId xmlns:a16="http://schemas.microsoft.com/office/drawing/2014/main" id="{B6C77C15-C94E-7812-8EF8-FCA1F8738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1384a0f4f_0_12:notes">
            <a:extLst>
              <a:ext uri="{FF2B5EF4-FFF2-40B4-BE49-F238E27FC236}">
                <a16:creationId xmlns:a16="http://schemas.microsoft.com/office/drawing/2014/main" id="{922BB2B2-FEBE-3C6F-AFF0-245969037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50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23E8C9A-4696-9883-4A2F-D194BC19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1384a0f4f_0_12:notes">
            <a:extLst>
              <a:ext uri="{FF2B5EF4-FFF2-40B4-BE49-F238E27FC236}">
                <a16:creationId xmlns:a16="http://schemas.microsoft.com/office/drawing/2014/main" id="{5DD7777C-1008-CEE5-CD56-CF8E5060D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21384a0f4f_0_12:notes">
            <a:extLst>
              <a:ext uri="{FF2B5EF4-FFF2-40B4-BE49-F238E27FC236}">
                <a16:creationId xmlns:a16="http://schemas.microsoft.com/office/drawing/2014/main" id="{8310B753-130F-30C0-3FEC-C2D97B7A3F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773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21384a0f4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21384a0f4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1384a0f4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21384a0f4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54b29f91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054b29f91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EE96B165-D71A-906A-7FBE-B079A910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54b29f913_0_52:notes">
            <a:extLst>
              <a:ext uri="{FF2B5EF4-FFF2-40B4-BE49-F238E27FC236}">
                <a16:creationId xmlns:a16="http://schemas.microsoft.com/office/drawing/2014/main" id="{A7401FB3-799D-14F3-7394-7391D6730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054b29f913_0_52:notes">
            <a:extLst>
              <a:ext uri="{FF2B5EF4-FFF2-40B4-BE49-F238E27FC236}">
                <a16:creationId xmlns:a16="http://schemas.microsoft.com/office/drawing/2014/main" id="{CCF48929-E967-9C2A-9A7A-073619002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497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0424DEE-6484-C41F-DCF5-28F1BE8D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54b29f913_0_52:notes">
            <a:extLst>
              <a:ext uri="{FF2B5EF4-FFF2-40B4-BE49-F238E27FC236}">
                <a16:creationId xmlns:a16="http://schemas.microsoft.com/office/drawing/2014/main" id="{B593B4E6-698C-FE7E-530B-C6039A2F1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054b29f913_0_52:notes">
            <a:extLst>
              <a:ext uri="{FF2B5EF4-FFF2-40B4-BE49-F238E27FC236}">
                <a16:creationId xmlns:a16="http://schemas.microsoft.com/office/drawing/2014/main" id="{58C799A4-19E1-B88D-F22F-3005D8736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060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1384a0f4f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1384a0f4f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1384a0f4f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21384a0f4f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21384a0f4f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21384a0f4f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GB"/>
              <a:t>Amelia and Felipe</a:t>
            </a:r>
            <a:endParaRPr lang="en-GB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Exploration Assignment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TU85x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37608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0000"/>
                </a:solidFill>
              </a:rPr>
              <a:t>Instructions: delete slides as required but keep the section slides to orientate your tutor.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>
              <a:buSzPts val="990"/>
            </a:pPr>
            <a:r>
              <a:rPr lang="en-GB" sz="5200"/>
              <a:t>Top 250 Movies of </a:t>
            </a:r>
            <a:br>
              <a:rPr lang="en-GB" sz="5200" dirty="0"/>
            </a:br>
            <a:r>
              <a:rPr lang="en-GB" sz="5200"/>
              <a:t>all Time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GB" sz="2800"/>
              <a:t>Data Preparation and Cleaning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387900" y="445025"/>
            <a:ext cx="8520600" cy="12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Data Prep – Data set</a:t>
            </a:r>
            <a:endParaRPr sz="280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4294967295"/>
          </p:nvPr>
        </p:nvSpPr>
        <p:spPr>
          <a:xfrm>
            <a:off x="311700" y="1435752"/>
            <a:ext cx="8520600" cy="3479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chemeClr val="tx1"/>
                </a:solidFill>
              </a:rPr>
              <a:t>This data set looks at the top 250 IMDb movies ranging from the year 1951 to 2025 spanning over 20 genres. It explores variables such as: 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Title – the official title of the movie 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Year – the year it was released in 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Rating – score given by IMDb out of 10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Votes – amount of user votes 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Runtime – duration of the movie 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GB" sz="1600" dirty="0">
                <a:solidFill>
                  <a:schemeClr val="tx1"/>
                </a:solidFill>
              </a:rPr>
              <a:t>     expressed in minutes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Tx/>
              <a:buChar char="-"/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endParaRPr lang="en-GB" dirty="0"/>
          </a:p>
        </p:txBody>
      </p:sp>
      <p:sp>
        <p:nvSpPr>
          <p:cNvPr id="2" name="Google Shape;73;p16">
            <a:extLst>
              <a:ext uri="{FF2B5EF4-FFF2-40B4-BE49-F238E27FC236}">
                <a16:creationId xmlns:a16="http://schemas.microsoft.com/office/drawing/2014/main" id="{57C9C7DA-DA5D-8C68-A10B-B3F9D79ED40D}"/>
              </a:ext>
            </a:extLst>
          </p:cNvPr>
          <p:cNvSpPr txBox="1">
            <a:spLocks/>
          </p:cNvSpPr>
          <p:nvPr/>
        </p:nvSpPr>
        <p:spPr>
          <a:xfrm>
            <a:off x="4425043" y="2381394"/>
            <a:ext cx="4483457" cy="206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500" dirty="0">
                <a:solidFill>
                  <a:schemeClr val="tx1"/>
                </a:solidFill>
              </a:rPr>
              <a:t>Certificate – age rating 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500" dirty="0">
                <a:solidFill>
                  <a:schemeClr val="tx1"/>
                </a:solidFill>
              </a:rPr>
              <a:t>Genre – genre of the movie, this can be one 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GB" sz="1500" dirty="0">
                <a:solidFill>
                  <a:schemeClr val="tx1"/>
                </a:solidFill>
              </a:rPr>
              <a:t>     or more 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1500" dirty="0">
                <a:solidFill>
                  <a:schemeClr val="tx1"/>
                </a:solidFill>
              </a:rPr>
              <a:t>Gross income – worldwide box office revenue </a:t>
            </a:r>
          </a:p>
          <a:p>
            <a:pPr marL="285750" indent="-285750">
              <a:lnSpc>
                <a:spcPct val="114999"/>
              </a:lnSpc>
              <a:spcAft>
                <a:spcPts val="1200"/>
              </a:spcAft>
              <a:buFontTx/>
              <a:buChar char="-"/>
            </a:pPr>
            <a:endParaRPr lang="en-GB" sz="1600" dirty="0">
              <a:solidFill>
                <a:schemeClr val="tx1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200"/>
              </a:spcAft>
              <a:buFont typeface="Arial"/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1D1D5-2725-2417-2E77-C209D25D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7ED66-236E-D40D-C61F-99BCB3DE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Quality Report – on the initial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467A0-027E-3FD7-C0F4-BEEB7B874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each feature include the relevant characteristics</a:t>
            </a:r>
          </a:p>
          <a:p>
            <a:endParaRPr lang="en-GB" dirty="0"/>
          </a:p>
          <a:p>
            <a:pPr marL="114300" indent="0">
              <a:buNone/>
            </a:pPr>
            <a:r>
              <a:rPr lang="en-GB" b="1" dirty="0"/>
              <a:t>CATEGORICAL</a:t>
            </a:r>
            <a:r>
              <a:rPr lang="en-GB" dirty="0"/>
              <a:t>: Count, %Missing, Mode, Mode %, 2</a:t>
            </a:r>
            <a:r>
              <a:rPr lang="en-GB" baseline="30000" dirty="0"/>
              <a:t>nd</a:t>
            </a:r>
            <a:r>
              <a:rPr lang="en-GB" dirty="0"/>
              <a:t> Mode, 2</a:t>
            </a:r>
            <a:r>
              <a:rPr lang="en-GB" baseline="30000" dirty="0"/>
              <a:t>nd</a:t>
            </a:r>
            <a:r>
              <a:rPr lang="en-GB" dirty="0"/>
              <a:t> Mode %</a:t>
            </a:r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b="1" dirty="0"/>
              <a:t>CONTINUOUS</a:t>
            </a:r>
            <a:r>
              <a:rPr lang="en-GB" dirty="0"/>
              <a:t>: Count, %Missing, Min, Mean, Median, 1</a:t>
            </a:r>
            <a:r>
              <a:rPr lang="en-GB" baseline="30000" dirty="0"/>
              <a:t>st</a:t>
            </a:r>
            <a:r>
              <a:rPr lang="en-GB" dirty="0"/>
              <a:t> </a:t>
            </a:r>
            <a:r>
              <a:rPr lang="en-GB" dirty="0" err="1"/>
              <a:t>Qrt</a:t>
            </a:r>
            <a:r>
              <a:rPr lang="en-GB" dirty="0"/>
              <a:t>, 3</a:t>
            </a:r>
            <a:r>
              <a:rPr lang="en-GB" baseline="30000" dirty="0"/>
              <a:t>rd</a:t>
            </a:r>
            <a:r>
              <a:rPr lang="en-GB" dirty="0"/>
              <a:t> </a:t>
            </a:r>
            <a:r>
              <a:rPr lang="en-GB" dirty="0" err="1"/>
              <a:t>Qrt</a:t>
            </a:r>
            <a:r>
              <a:rPr lang="en-GB" dirty="0"/>
              <a:t>, Max, </a:t>
            </a:r>
            <a:r>
              <a:rPr lang="en-GB" dirty="0" err="1"/>
              <a:t>StDev</a:t>
            </a: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You can use the table format in the next </a:t>
            </a:r>
            <a:r>
              <a:rPr lang="en-GB" dirty="0" err="1"/>
              <a:t>silde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3548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7F43-C901-926C-AA07-39F08348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Quality report – on the initial dataset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32CA94-7385-7A9A-626C-058C4396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76" y="1017725"/>
            <a:ext cx="7772400" cy="35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44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CA43-D624-65A7-4FF3-1292FA2A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E" dirty="0"/>
              <a:t>Continuous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7A04D-A7AA-E316-AEF9-FBAEF1BB2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ADA535-35E7-053B-9BC5-F384FC040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400149"/>
              </p:ext>
            </p:extLst>
          </p:nvPr>
        </p:nvGraphicFramePr>
        <p:xfrm>
          <a:off x="187779" y="1152475"/>
          <a:ext cx="8768441" cy="38646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97131">
                  <a:extLst>
                    <a:ext uri="{9D8B030D-6E8A-4147-A177-3AD203B41FA5}">
                      <a16:colId xmlns:a16="http://schemas.microsoft.com/office/drawing/2014/main" val="2275553917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348065387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2818657339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766553928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983292674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667248982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443807263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2215435004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1790629358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438624279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1505714332"/>
                    </a:ext>
                  </a:extLst>
                </a:gridCol>
              </a:tblGrid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Count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%Missing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Card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1</a:t>
                      </a:r>
                      <a:r>
                        <a:rPr lang="en-IE" sz="1200" baseline="30000" dirty="0"/>
                        <a:t>st</a:t>
                      </a:r>
                      <a:r>
                        <a:rPr lang="en-IE" sz="1200" dirty="0"/>
                        <a:t> </a:t>
                      </a:r>
                      <a:r>
                        <a:rPr lang="en-IE" sz="1200" dirty="0" err="1"/>
                        <a:t>Qrt</a:t>
                      </a:r>
                      <a:r>
                        <a:rPr lang="en-IE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Median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3</a:t>
                      </a:r>
                      <a:r>
                        <a:rPr lang="en-IE" sz="1200" baseline="30000" dirty="0"/>
                        <a:t>rd</a:t>
                      </a:r>
                      <a:r>
                        <a:rPr lang="en-IE" sz="1200" dirty="0"/>
                        <a:t> </a:t>
                      </a:r>
                      <a:r>
                        <a:rPr lang="en-IE" sz="1200" dirty="0" err="1"/>
                        <a:t>Qrt</a:t>
                      </a:r>
                      <a:r>
                        <a:rPr lang="en-IE" sz="12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Max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Std Dev.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155696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Rating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70550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Votes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299196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Runtime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00118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Gross Income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441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149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FF0D-EB6E-B090-FF2D-BCCF66F9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C6DC-24D4-CFE7-315D-BFBD932C8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99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IE" dirty="0"/>
              <a:t>Categorical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B52D6-FCF4-3C3F-E31C-4523EFD5D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D0D98-73BD-5524-3534-B676CFF7A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17505"/>
              </p:ext>
            </p:extLst>
          </p:nvPr>
        </p:nvGraphicFramePr>
        <p:xfrm>
          <a:off x="179614" y="1152475"/>
          <a:ext cx="8776606" cy="386465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47057">
                  <a:extLst>
                    <a:ext uri="{9D8B030D-6E8A-4147-A177-3AD203B41FA5}">
                      <a16:colId xmlns:a16="http://schemas.microsoft.com/office/drawing/2014/main" val="2275553917"/>
                    </a:ext>
                  </a:extLst>
                </a:gridCol>
                <a:gridCol w="718458">
                  <a:extLst>
                    <a:ext uri="{9D8B030D-6E8A-4147-A177-3AD203B41FA5}">
                      <a16:colId xmlns:a16="http://schemas.microsoft.com/office/drawing/2014/main" val="3348065387"/>
                    </a:ext>
                  </a:extLst>
                </a:gridCol>
                <a:gridCol w="734043">
                  <a:extLst>
                    <a:ext uri="{9D8B030D-6E8A-4147-A177-3AD203B41FA5}">
                      <a16:colId xmlns:a16="http://schemas.microsoft.com/office/drawing/2014/main" val="2818657339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766553928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983292674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667248982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443807263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2215435004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1790629358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3438624279"/>
                    </a:ext>
                  </a:extLst>
                </a:gridCol>
                <a:gridCol w="797131">
                  <a:extLst>
                    <a:ext uri="{9D8B030D-6E8A-4147-A177-3AD203B41FA5}">
                      <a16:colId xmlns:a16="http://schemas.microsoft.com/office/drawing/2014/main" val="1505714332"/>
                    </a:ext>
                  </a:extLst>
                </a:gridCol>
              </a:tblGrid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Count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%Missing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Card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Mode Freq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Mode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2</a:t>
                      </a:r>
                      <a:r>
                        <a:rPr lang="en-IE" sz="1200" baseline="30000" dirty="0"/>
                        <a:t>nd</a:t>
                      </a:r>
                      <a:r>
                        <a:rPr lang="en-IE" sz="1200" dirty="0"/>
                        <a:t> Mode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E" sz="1200" dirty="0"/>
                        <a:t>2</a:t>
                      </a:r>
                      <a:r>
                        <a:rPr lang="en-IE" sz="1200" baseline="30000" dirty="0"/>
                        <a:t>nd</a:t>
                      </a:r>
                      <a:r>
                        <a:rPr lang="en-IE" sz="1200" dirty="0"/>
                        <a:t> Mode Freq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1200" dirty="0"/>
                        <a:t>2</a:t>
                      </a:r>
                      <a:r>
                        <a:rPr lang="en-IE" sz="1200" baseline="30000" dirty="0"/>
                        <a:t>nd</a:t>
                      </a:r>
                      <a:r>
                        <a:rPr lang="en-IE" sz="1200" dirty="0"/>
                        <a:t> Mode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155696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70550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299196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Certificate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900118"/>
                  </a:ext>
                </a:extLst>
              </a:tr>
              <a:tr h="772931">
                <a:tc>
                  <a:txBody>
                    <a:bodyPr/>
                    <a:lstStyle/>
                    <a:p>
                      <a:r>
                        <a:rPr lang="en-IE" sz="1200" dirty="0"/>
                        <a:t>Genre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441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478C0F8-F960-C375-5831-9134C22FF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B62AAC80-9925-955B-4228-4C18ABA5B899}"/>
              </a:ext>
            </a:extLst>
          </p:cNvPr>
          <p:cNvSpPr txBox="1"/>
          <p:nvPr/>
        </p:nvSpPr>
        <p:spPr>
          <a:xfrm>
            <a:off x="501188" y="299369"/>
            <a:ext cx="8520600" cy="88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Data Prep – Outliers</a:t>
            </a:r>
            <a:endParaRPr sz="2800" dirty="0"/>
          </a:p>
        </p:txBody>
      </p:sp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DC93059D-3A55-60B6-B84A-8910B6EF54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740775"/>
            <a:ext cx="8520600" cy="29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Are there outliers in your dataset? Show evidence you’ve checked.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If there are outliers – how did you deal with them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122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7FB4724-CE24-FDFE-B6D4-63A14001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6EF11193-A63F-C8B6-4793-13BEEA2EE75A}"/>
              </a:ext>
            </a:extLst>
          </p:cNvPr>
          <p:cNvSpPr txBox="1"/>
          <p:nvPr/>
        </p:nvSpPr>
        <p:spPr>
          <a:xfrm>
            <a:off x="501188" y="299369"/>
            <a:ext cx="8520600" cy="88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Data Prep – Missing values</a:t>
            </a:r>
            <a:endParaRPr sz="2800" dirty="0"/>
          </a:p>
        </p:txBody>
      </p:sp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8BBE575C-F4FB-1407-7D18-AAC500CBF6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740775"/>
            <a:ext cx="8520600" cy="29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Are there missing values in your dataset? How are they represented? Show evidence you’ve checked.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If there are missing values – how did you deal with them?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8256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929D398-69BE-0795-C68D-B0C66B71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636469DF-664F-3455-BE63-E0DAA18176E2}"/>
              </a:ext>
            </a:extLst>
          </p:cNvPr>
          <p:cNvSpPr txBox="1"/>
          <p:nvPr/>
        </p:nvSpPr>
        <p:spPr>
          <a:xfrm>
            <a:off x="501188" y="299369"/>
            <a:ext cx="8520600" cy="882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Data Prep – Missing values</a:t>
            </a:r>
            <a:endParaRPr sz="2800" dirty="0"/>
          </a:p>
        </p:txBody>
      </p:sp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DF51A66B-26B2-C7C5-2E79-9F65574F68F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1700" y="1740775"/>
            <a:ext cx="8520600" cy="29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Are there missing values in your dataset? How are they represented? Show evidence you’ve checked.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If there are missing values – how did you deal with them?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7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5B47-C880-7D89-C568-983679D7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1BFE-35A9-452C-249E-6A68A37E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Quality Report – after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FFE59-0343-4129-4CE6-2F27567E1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r>
              <a:rPr lang="en-GB" dirty="0"/>
              <a:t>Same as the previous slide but on the clean data instead of the initial data</a:t>
            </a:r>
          </a:p>
        </p:txBody>
      </p:sp>
    </p:spTree>
    <p:extLst>
      <p:ext uri="{BB962C8B-B14F-4D97-AF65-F5344CB8AC3E}">
        <p14:creationId xmlns:p14="http://schemas.microsoft.com/office/powerpoint/2010/main" val="83152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2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 dirty="0"/>
              <a:t>Summary Visualisations </a:t>
            </a:r>
            <a:endParaRPr sz="2500" i="1" dirty="0"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311700" y="1740775"/>
            <a:ext cx="8520600" cy="29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3. Comparative Analysis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&lt;Compare a numeric variable across two groups&gt;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DC2B14-0C02-B13C-6162-C8329248A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your question, analysis you’ve done and relevant </a:t>
            </a:r>
            <a:r>
              <a:rPr lang="en-US" dirty="0" err="1"/>
              <a:t>visualisations</a:t>
            </a:r>
            <a:endParaRPr lang="en-US" dirty="0"/>
          </a:p>
          <a:p>
            <a:r>
              <a:rPr lang="en-US" dirty="0"/>
              <a:t>For example: Who needs more sleep, older or younger people?</a:t>
            </a:r>
          </a:p>
          <a:p>
            <a:pPr marL="1143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DB242034-3C57-D770-2C7B-78CCED2DB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>
            <a:extLst>
              <a:ext uri="{FF2B5EF4-FFF2-40B4-BE49-F238E27FC236}">
                <a16:creationId xmlns:a16="http://schemas.microsoft.com/office/drawing/2014/main" id="{71770FF6-086B-E3E7-A03C-FEB3977F5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&lt;Question 2:…&gt;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6C1657-7A7C-F47A-8854-895308DC5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your question, analysis you’ve done and relevant </a:t>
            </a:r>
            <a:r>
              <a:rPr lang="en-US" dirty="0" err="1"/>
              <a:t>visualisations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03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2B61378C-FFBE-105E-5504-0C7E9194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>
            <a:extLst>
              <a:ext uri="{FF2B5EF4-FFF2-40B4-BE49-F238E27FC236}">
                <a16:creationId xmlns:a16="http://schemas.microsoft.com/office/drawing/2014/main" id="{30A0696E-518B-EEDF-1422-824F147B70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&lt;Question 3: …&gt;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031548-275E-A82C-51E6-6921D9449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your question, analysis you’ve done and relevant </a:t>
            </a:r>
            <a:r>
              <a:rPr lang="en-US" dirty="0" err="1"/>
              <a:t>visualisations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96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4. Conclusions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185" name="Google Shape;185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 </a:t>
            </a:r>
            <a:endParaRPr/>
          </a:p>
        </p:txBody>
      </p:sp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444</Words>
  <Application>Microsoft Office PowerPoint</Application>
  <PresentationFormat>On-screen Show (16:9)</PresentationFormat>
  <Paragraphs>85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Wingdings</vt:lpstr>
      <vt:lpstr>Simple Light</vt:lpstr>
      <vt:lpstr>Amelia and Felipe</vt:lpstr>
      <vt:lpstr>Top 250 Movies of  all Time</vt:lpstr>
      <vt:lpstr>Data Preparation and Cleaning</vt:lpstr>
      <vt:lpstr>PowerPoint Presentation</vt:lpstr>
      <vt:lpstr>Data Quality Report – on the initial dataset</vt:lpstr>
      <vt:lpstr>Data Quality report – on the initial dataset</vt:lpstr>
      <vt:lpstr>Continuous  </vt:lpstr>
      <vt:lpstr>Categorical </vt:lpstr>
      <vt:lpstr>PowerPoint Presentation</vt:lpstr>
      <vt:lpstr>PowerPoint Presentation</vt:lpstr>
      <vt:lpstr>PowerPoint Presentation</vt:lpstr>
      <vt:lpstr>Data Quality Report – after cleaning</vt:lpstr>
      <vt:lpstr>Summary Visualisations </vt:lpstr>
      <vt:lpstr>3. Comparative Analysis</vt:lpstr>
      <vt:lpstr>&lt;Compare a numeric variable across two groups&gt; </vt:lpstr>
      <vt:lpstr>&lt;Question 2:…&gt;  </vt:lpstr>
      <vt:lpstr>&lt;Question 3: …&gt; </vt:lpstr>
      <vt:lpstr>4. Conclusions</vt:lpstr>
      <vt:lpstr>Conclusions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&lt;Place your name here&gt;</dc:title>
  <cp:lastModifiedBy>A00043106 Amelia Stronska</cp:lastModifiedBy>
  <cp:revision>45</cp:revision>
  <dcterms:modified xsi:type="dcterms:W3CDTF">2026-03-26T18:02:36Z</dcterms:modified>
</cp:coreProperties>
</file>