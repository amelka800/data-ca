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94" r:id="rId6"/>
    <p:sldId id="295" r:id="rId7"/>
    <p:sldId id="289" r:id="rId8"/>
    <p:sldId id="290" r:id="rId9"/>
    <p:sldId id="291" r:id="rId10"/>
    <p:sldId id="286" r:id="rId11"/>
    <p:sldId id="266" r:id="rId12"/>
    <p:sldId id="268" r:id="rId13"/>
    <p:sldId id="269" r:id="rId14"/>
    <p:sldId id="292" r:id="rId15"/>
    <p:sldId id="293" r:id="rId16"/>
    <p:sldId id="277" r:id="rId17"/>
    <p:sldId id="278" r:id="rId18"/>
    <p:sldId id="279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F97F1A-1652-FEDA-9BD7-74B6CC554117}" v="69" dt="2026-03-25T12:17:05.1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7"/>
    <p:restoredTop sz="94685"/>
  </p:normalViewPr>
  <p:slideViewPr>
    <p:cSldViewPr snapToGrid="0">
      <p:cViewPr varScale="1">
        <p:scale>
          <a:sx n="157" d="100"/>
          <a:sy n="157" d="100"/>
        </p:scale>
        <p:origin x="560" y="1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00043106 Amelia Stronska" userId="S::a00043106@mytudublin.ie::26b13220-5c28-497f-8887-6e4027d3be59" providerId="AD" clId="Web-{58F97F1A-1652-FEDA-9BD7-74B6CC554117}"/>
    <pc:docChg chg="modSld">
      <pc:chgData name="A00043106 Amelia Stronska" userId="S::a00043106@mytudublin.ie::26b13220-5c28-497f-8887-6e4027d3be59" providerId="AD" clId="Web-{58F97F1A-1652-FEDA-9BD7-74B6CC554117}" dt="2026-03-25T12:17:05.106" v="68" actId="20577"/>
      <pc:docMkLst>
        <pc:docMk/>
      </pc:docMkLst>
      <pc:sldChg chg="modSp">
        <pc:chgData name="A00043106 Amelia Stronska" userId="S::a00043106@mytudublin.ie::26b13220-5c28-497f-8887-6e4027d3be59" providerId="AD" clId="Web-{58F97F1A-1652-FEDA-9BD7-74B6CC554117}" dt="2026-03-25T12:12:57.677" v="4" actId="20577"/>
        <pc:sldMkLst>
          <pc:docMk/>
          <pc:sldMk cId="0" sldId="256"/>
        </pc:sldMkLst>
        <pc:spChg chg="mod">
          <ac:chgData name="A00043106 Amelia Stronska" userId="S::a00043106@mytudublin.ie::26b13220-5c28-497f-8887-6e4027d3be59" providerId="AD" clId="Web-{58F97F1A-1652-FEDA-9BD7-74B6CC554117}" dt="2026-03-25T12:12:57.677" v="4" actId="20577"/>
          <ac:spMkLst>
            <pc:docMk/>
            <pc:sldMk cId="0" sldId="256"/>
            <ac:spMk id="54" creationId="{00000000-0000-0000-0000-000000000000}"/>
          </ac:spMkLst>
        </pc:spChg>
      </pc:sldChg>
      <pc:sldChg chg="modSp">
        <pc:chgData name="A00043106 Amelia Stronska" userId="S::a00043106@mytudublin.ie::26b13220-5c28-497f-8887-6e4027d3be59" providerId="AD" clId="Web-{58F97F1A-1652-FEDA-9BD7-74B6CC554117}" dt="2026-03-25T12:13:32.897" v="16" actId="20577"/>
        <pc:sldMkLst>
          <pc:docMk/>
          <pc:sldMk cId="0" sldId="257"/>
        </pc:sldMkLst>
        <pc:spChg chg="mod">
          <ac:chgData name="A00043106 Amelia Stronska" userId="S::a00043106@mytudublin.ie::26b13220-5c28-497f-8887-6e4027d3be59" providerId="AD" clId="Web-{58F97F1A-1652-FEDA-9BD7-74B6CC554117}" dt="2026-03-25T12:13:32.897" v="16" actId="20577"/>
          <ac:spMkLst>
            <pc:docMk/>
            <pc:sldMk cId="0" sldId="257"/>
            <ac:spMk id="61" creationId="{00000000-0000-0000-0000-000000000000}"/>
          </ac:spMkLst>
        </pc:spChg>
      </pc:sldChg>
      <pc:sldChg chg="modSp">
        <pc:chgData name="A00043106 Amelia Stronska" userId="S::a00043106@mytudublin.ie::26b13220-5c28-497f-8887-6e4027d3be59" providerId="AD" clId="Web-{58F97F1A-1652-FEDA-9BD7-74B6CC554117}" dt="2026-03-25T12:17:05.106" v="68" actId="20577"/>
        <pc:sldMkLst>
          <pc:docMk/>
          <pc:sldMk cId="0" sldId="259"/>
        </pc:sldMkLst>
        <pc:spChg chg="mod">
          <ac:chgData name="A00043106 Amelia Stronska" userId="S::a00043106@mytudublin.ie::26b13220-5c28-497f-8887-6e4027d3be59" providerId="AD" clId="Web-{58F97F1A-1652-FEDA-9BD7-74B6CC554117}" dt="2026-03-25T12:17:05.106" v="68" actId="20577"/>
          <ac:spMkLst>
            <pc:docMk/>
            <pc:sldMk cId="0" sldId="259"/>
            <ac:spMk id="7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054b29f913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054b29f913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21384a0f4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21384a0f4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521A402D-7E33-6B29-2E44-FC0E51E3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>
            <a:extLst>
              <a:ext uri="{FF2B5EF4-FFF2-40B4-BE49-F238E27FC236}">
                <a16:creationId xmlns:a16="http://schemas.microsoft.com/office/drawing/2014/main" id="{955B8214-4F87-98BA-8EDA-4CBBB59E68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>
            <a:extLst>
              <a:ext uri="{FF2B5EF4-FFF2-40B4-BE49-F238E27FC236}">
                <a16:creationId xmlns:a16="http://schemas.microsoft.com/office/drawing/2014/main" id="{0B7DF2EB-3822-ECAF-8561-A72BECB75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27614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62C7BB93-3950-8460-9775-7327FCA7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>
            <a:extLst>
              <a:ext uri="{FF2B5EF4-FFF2-40B4-BE49-F238E27FC236}">
                <a16:creationId xmlns:a16="http://schemas.microsoft.com/office/drawing/2014/main" id="{B6C77C15-C94E-7812-8EF8-FCA1F8738C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>
            <a:extLst>
              <a:ext uri="{FF2B5EF4-FFF2-40B4-BE49-F238E27FC236}">
                <a16:creationId xmlns:a16="http://schemas.microsoft.com/office/drawing/2014/main" id="{922BB2B2-FEBE-3C6F-AFF0-2459690374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50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D23E8C9A-4696-9883-4A2F-D194BC19F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21384a0f4f_0_12:notes">
            <a:extLst>
              <a:ext uri="{FF2B5EF4-FFF2-40B4-BE49-F238E27FC236}">
                <a16:creationId xmlns:a16="http://schemas.microsoft.com/office/drawing/2014/main" id="{5DD7777C-1008-CEE5-CD56-CF8E5060D6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21384a0f4f_0_12:notes">
            <a:extLst>
              <a:ext uri="{FF2B5EF4-FFF2-40B4-BE49-F238E27FC236}">
                <a16:creationId xmlns:a16="http://schemas.microsoft.com/office/drawing/2014/main" id="{8310B753-130F-30C0-3FEC-C2D97B7A3F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27734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121384a0f4f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121384a0f4f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121384a0f4f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121384a0f4f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054b29f913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054b29f913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EE96B165-D71A-906A-7FBE-B079A910A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054b29f913_0_52:notes">
            <a:extLst>
              <a:ext uri="{FF2B5EF4-FFF2-40B4-BE49-F238E27FC236}">
                <a16:creationId xmlns:a16="http://schemas.microsoft.com/office/drawing/2014/main" id="{A7401FB3-799D-14F3-7394-7391D6730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054b29f913_0_52:notes">
            <a:extLst>
              <a:ext uri="{FF2B5EF4-FFF2-40B4-BE49-F238E27FC236}">
                <a16:creationId xmlns:a16="http://schemas.microsoft.com/office/drawing/2014/main" id="{CCF48929-E967-9C2A-9A7A-073619002F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04979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40424DEE-6484-C41F-DCF5-28F1BE8D0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054b29f913_0_52:notes">
            <a:extLst>
              <a:ext uri="{FF2B5EF4-FFF2-40B4-BE49-F238E27FC236}">
                <a16:creationId xmlns:a16="http://schemas.microsoft.com/office/drawing/2014/main" id="{B593B4E6-698C-FE7E-530B-C6039A2F1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054b29f913_0_52:notes">
            <a:extLst>
              <a:ext uri="{FF2B5EF4-FFF2-40B4-BE49-F238E27FC236}">
                <a16:creationId xmlns:a16="http://schemas.microsoft.com/office/drawing/2014/main" id="{58C799A4-19E1-B88D-F22F-3005D8736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70605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121384a0f4f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121384a0f4f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121384a0f4f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121384a0f4f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121384a0f4f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121384a0f4f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en-GB"/>
              <a:t>Amelia and Felipe</a:t>
            </a:r>
            <a:endParaRPr lang="en-GB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Exploration Assignment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TU85x</a:t>
            </a:r>
            <a:endParaRPr dirty="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37608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0000"/>
                </a:solidFill>
              </a:rPr>
              <a:t>Instructions: delete slides as required but keep the section slides to orientate your tutor.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>
              <a:buSzPts val="990"/>
            </a:pPr>
            <a:r>
              <a:rPr lang="en-GB" sz="5200"/>
              <a:t>Top 250 Movies of </a:t>
            </a:r>
            <a:br>
              <a:rPr lang="en-GB" sz="5200" dirty="0"/>
            </a:br>
            <a:r>
              <a:rPr lang="en-GB" sz="5200"/>
              <a:t>all Time</a:t>
            </a:r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GB" sz="2800"/>
              <a:t>Data Preparation and Cleaning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/>
        </p:nvSpPr>
        <p:spPr>
          <a:xfrm>
            <a:off x="387900" y="445025"/>
            <a:ext cx="8520600" cy="12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Data set</a:t>
            </a:r>
            <a:endParaRPr sz="2800"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4294967295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Briefly explain what your data set is about and what your variables represent</a:t>
            </a:r>
          </a:p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n-GB" dirty="0"/>
              <a:t>This data set looks at the top 250 IMDb movies </a:t>
            </a:r>
            <a:r>
              <a:rPr lang="en-GB"/>
              <a:t>ranging</a:t>
            </a:r>
            <a:r>
              <a:rPr lang="en-GB" dirty="0"/>
              <a:t> from the year 1951 to 2025.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1D1D5-2725-2417-2E77-C209D25D9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7ED66-236E-D40D-C61F-99BCB3DE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Data Quality Report – on the initial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3467A0-027E-3FD7-C0F4-BEEB7B87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each feature include the relevant characteristics</a:t>
            </a:r>
          </a:p>
          <a:p>
            <a:endParaRPr lang="en-GB" dirty="0"/>
          </a:p>
          <a:p>
            <a:pPr marL="114300" indent="0">
              <a:buNone/>
            </a:pPr>
            <a:r>
              <a:rPr lang="en-GB" b="1" dirty="0"/>
              <a:t>CATEGORICAL</a:t>
            </a:r>
            <a:r>
              <a:rPr lang="en-GB" dirty="0"/>
              <a:t>: Count, %Missing, Mode, Mode %, 2</a:t>
            </a:r>
            <a:r>
              <a:rPr lang="en-GB" baseline="30000" dirty="0"/>
              <a:t>nd</a:t>
            </a:r>
            <a:r>
              <a:rPr lang="en-GB" dirty="0"/>
              <a:t> Mode, 2</a:t>
            </a:r>
            <a:r>
              <a:rPr lang="en-GB" baseline="30000" dirty="0"/>
              <a:t>nd</a:t>
            </a:r>
            <a:r>
              <a:rPr lang="en-GB" dirty="0"/>
              <a:t> Mode %</a:t>
            </a:r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b="1" dirty="0"/>
              <a:t>CONTINUOUS</a:t>
            </a:r>
            <a:r>
              <a:rPr lang="en-GB" dirty="0"/>
              <a:t>: Count, %Missing, Min, Mean, Median, 1</a:t>
            </a:r>
            <a:r>
              <a:rPr lang="en-GB" baseline="30000" dirty="0"/>
              <a:t>st</a:t>
            </a:r>
            <a:r>
              <a:rPr lang="en-GB" dirty="0"/>
              <a:t> </a:t>
            </a:r>
            <a:r>
              <a:rPr lang="en-GB" dirty="0" err="1"/>
              <a:t>Qrt</a:t>
            </a:r>
            <a:r>
              <a:rPr lang="en-GB" dirty="0"/>
              <a:t>, 3</a:t>
            </a:r>
            <a:r>
              <a:rPr lang="en-GB" baseline="30000" dirty="0"/>
              <a:t>rd</a:t>
            </a:r>
            <a:r>
              <a:rPr lang="en-GB" dirty="0"/>
              <a:t> </a:t>
            </a:r>
            <a:r>
              <a:rPr lang="en-GB" dirty="0" err="1"/>
              <a:t>Qrt</a:t>
            </a:r>
            <a:r>
              <a:rPr lang="en-GB" dirty="0"/>
              <a:t>, Max, </a:t>
            </a:r>
            <a:r>
              <a:rPr lang="en-GB" dirty="0" err="1"/>
              <a:t>StDev</a:t>
            </a: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You can use the table format in the next </a:t>
            </a:r>
            <a:r>
              <a:rPr lang="en-GB" dirty="0" err="1"/>
              <a:t>silde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3548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A7F43-C901-926C-AA07-39F08348F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Quality report – on the initial dataset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32CA94-7385-7A9A-626C-058C43963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76" y="1017725"/>
            <a:ext cx="7772400" cy="3535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644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1478C0F8-F960-C375-5831-9134C22FF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B62AAC80-9925-955B-4228-4C18ABA5B899}"/>
              </a:ext>
            </a:extLst>
          </p:cNvPr>
          <p:cNvSpPr txBox="1"/>
          <p:nvPr/>
        </p:nvSpPr>
        <p:spPr>
          <a:xfrm>
            <a:off x="501188" y="299369"/>
            <a:ext cx="8520600" cy="88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Outliers</a:t>
            </a:r>
            <a:endParaRPr sz="2800" dirty="0"/>
          </a:p>
        </p:txBody>
      </p:sp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DC93059D-3A55-60B6-B84A-8910B6EF543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Are there outliers in your dataset? Show evidence you’ve checked.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If there are outliers – how did you deal with them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1223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E7FB4724-CE24-FDFE-B6D4-63A140016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6EF11193-A63F-C8B6-4793-13BEEA2EE75A}"/>
              </a:ext>
            </a:extLst>
          </p:cNvPr>
          <p:cNvSpPr txBox="1"/>
          <p:nvPr/>
        </p:nvSpPr>
        <p:spPr>
          <a:xfrm>
            <a:off x="501188" y="299369"/>
            <a:ext cx="8520600" cy="88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Missing values</a:t>
            </a:r>
            <a:endParaRPr sz="2800" dirty="0"/>
          </a:p>
        </p:txBody>
      </p:sp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8BBE575C-F4FB-1407-7D18-AAC500CBF6D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Are there missing values in your dataset? How are they represented? Show evidence you’ve checked.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If there are missing values – how did you deal with them?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8256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9929D398-69BE-0795-C68D-B0C66B71F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>
            <a:extLst>
              <a:ext uri="{FF2B5EF4-FFF2-40B4-BE49-F238E27FC236}">
                <a16:creationId xmlns:a16="http://schemas.microsoft.com/office/drawing/2014/main" id="{636469DF-664F-3455-BE63-E0DAA18176E2}"/>
              </a:ext>
            </a:extLst>
          </p:cNvPr>
          <p:cNvSpPr txBox="1"/>
          <p:nvPr/>
        </p:nvSpPr>
        <p:spPr>
          <a:xfrm>
            <a:off x="501188" y="299369"/>
            <a:ext cx="8520600" cy="88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Data Prep – Missing values</a:t>
            </a:r>
            <a:endParaRPr sz="2800" dirty="0"/>
          </a:p>
        </p:txBody>
      </p:sp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DF51A66B-26B2-C7C5-2E79-9F65574F68F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Are there missing values in your dataset? How are they represented? Show evidence you’ve checked.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If there are missing values – how did you deal with them?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3073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E5B47-C880-7D89-C568-983679D7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11BFE-35A9-452C-249E-6A68A37E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Data Quality Report – after cleaning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DFFE59-0343-4129-4CE6-2F27567E1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endParaRPr lang="en-GB" dirty="0"/>
          </a:p>
          <a:p>
            <a:pPr marL="114300" indent="0">
              <a:buNone/>
            </a:pPr>
            <a:r>
              <a:rPr lang="en-GB" dirty="0"/>
              <a:t>Same as the previous slide but on the clean data instead of the initial data</a:t>
            </a:r>
          </a:p>
        </p:txBody>
      </p:sp>
    </p:spTree>
    <p:extLst>
      <p:ext uri="{BB962C8B-B14F-4D97-AF65-F5344CB8AC3E}">
        <p14:creationId xmlns:p14="http://schemas.microsoft.com/office/powerpoint/2010/main" val="831527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500" dirty="0"/>
              <a:t>Summary Visualisations </a:t>
            </a:r>
            <a:endParaRPr sz="2500" i="1" dirty="0"/>
          </a:p>
        </p:txBody>
      </p:sp>
      <p:sp>
        <p:nvSpPr>
          <p:cNvPr id="114" name="Google Shape;114;p23"/>
          <p:cNvSpPr txBox="1">
            <a:spLocks noGrp="1"/>
          </p:cNvSpPr>
          <p:nvPr>
            <p:ph type="body" idx="1"/>
          </p:nvPr>
        </p:nvSpPr>
        <p:spPr>
          <a:xfrm>
            <a:off x="311700" y="1740775"/>
            <a:ext cx="8520600" cy="29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3. Comparative Analysis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&lt;Compare a numeric variable across two groups&gt;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DC2B14-0C02-B13C-6162-C8329248AA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your question, analysis you’ve done and relevant </a:t>
            </a:r>
            <a:r>
              <a:rPr lang="en-US" dirty="0" err="1"/>
              <a:t>visualisations</a:t>
            </a:r>
            <a:endParaRPr lang="en-US" dirty="0"/>
          </a:p>
          <a:p>
            <a:r>
              <a:rPr lang="en-US" dirty="0"/>
              <a:t>For example: Who needs more sleep, older or younger people?</a:t>
            </a:r>
          </a:p>
          <a:p>
            <a:pPr marL="11430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B242034-3C57-D770-2C7B-78CCED2DB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>
            <a:extLst>
              <a:ext uri="{FF2B5EF4-FFF2-40B4-BE49-F238E27FC236}">
                <a16:creationId xmlns:a16="http://schemas.microsoft.com/office/drawing/2014/main" id="{71770FF6-086B-E3E7-A03C-FEB3977F5C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&lt;Question 2:…&gt;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6C1657-7A7C-F47A-8854-895308DC5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your question, analysis you’ve done and relevant </a:t>
            </a:r>
            <a:r>
              <a:rPr lang="en-US" dirty="0" err="1"/>
              <a:t>visualisations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903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B61378C-FFBE-105E-5504-0C7E9194A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>
            <a:extLst>
              <a:ext uri="{FF2B5EF4-FFF2-40B4-BE49-F238E27FC236}">
                <a16:creationId xmlns:a16="http://schemas.microsoft.com/office/drawing/2014/main" id="{30A0696E-518B-EEDF-1422-824F147B70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&lt;Question 3: …&gt;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031548-275E-A82C-51E6-6921D9449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your question, analysis you’ve done and relevant </a:t>
            </a:r>
            <a:r>
              <a:rPr lang="en-US" dirty="0" err="1"/>
              <a:t>visualisations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296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4. Conclusions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Conclusions</a:t>
            </a:r>
            <a:endParaRPr/>
          </a:p>
        </p:txBody>
      </p:sp>
      <p:sp>
        <p:nvSpPr>
          <p:cNvPr id="185" name="Google Shape;185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References </a:t>
            </a:r>
            <a:endParaRPr/>
          </a:p>
        </p:txBody>
      </p:sp>
      <p:sp>
        <p:nvSpPr>
          <p:cNvPr id="191" name="Google Shape;191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318</Words>
  <Application>Microsoft Office PowerPoint</Application>
  <PresentationFormat>On-screen Show (16:9)</PresentationFormat>
  <Paragraphs>42</Paragraphs>
  <Slides>18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Simple Light</vt:lpstr>
      <vt:lpstr>Amelia and Felipe</vt:lpstr>
      <vt:lpstr>Top 250 Movies of  all Time</vt:lpstr>
      <vt:lpstr>Data Preparation and Cleaning</vt:lpstr>
      <vt:lpstr>PowerPoint Presentation</vt:lpstr>
      <vt:lpstr>Data Quality Report – on the initial dataset</vt:lpstr>
      <vt:lpstr>Data Quality report – on the initial dataset</vt:lpstr>
      <vt:lpstr>PowerPoint Presentation</vt:lpstr>
      <vt:lpstr>PowerPoint Presentation</vt:lpstr>
      <vt:lpstr>PowerPoint Presentation</vt:lpstr>
      <vt:lpstr>Data Quality Report – after cleaning</vt:lpstr>
      <vt:lpstr>Summary Visualisations </vt:lpstr>
      <vt:lpstr>3. Comparative Analysis</vt:lpstr>
      <vt:lpstr>&lt;Compare a numeric variable across two groups&gt; </vt:lpstr>
      <vt:lpstr>&lt;Question 2:…&gt;  </vt:lpstr>
      <vt:lpstr>&lt;Question 3: …&gt; </vt:lpstr>
      <vt:lpstr>4. Conclusions</vt:lpstr>
      <vt:lpstr>Conclusions</vt:lpstr>
      <vt:lpstr>References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&lt;Place your name here&gt;</dc:title>
  <cp:lastModifiedBy>Svetlana Hensman</cp:lastModifiedBy>
  <cp:revision>45</cp:revision>
  <dcterms:modified xsi:type="dcterms:W3CDTF">2026-03-25T12:17:06Z</dcterms:modified>
</cp:coreProperties>
</file>